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457200"/>
            <a:ext cx="2743200" cy="2743200"/>
          </a:xfrm>
          <a:prstGeom prst="ellipse">
            <a:avLst/>
          </a:prstGeom>
          <a:solidFill>
            <a:srgbClr val="1B4D5C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0"/>
            <a:ext cx="137160" cy="1828800"/>
          </a:xfrm>
          <a:prstGeom prst="rect">
            <a:avLst/>
          </a:prstGeom>
          <a:solidFill>
            <a:srgbClr val="E8785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SpectraLink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7E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面向孤独症儿童照顾者的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7E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神经符号 AI 支持系统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Grand Challenge 2026  |  项目编号：MGC_2026_1395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团队：SpectraLink  |  北京大学 及 合作院校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4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项目背景：孤独症的严峻挑战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73152"/>
          </a:xfrm>
          <a:prstGeom prst="rect">
            <a:avLst/>
          </a:prstGeom>
          <a:solidFill>
            <a:srgbClr val="1B4D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4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6180万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年全球 ASD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患者数量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09728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83280" y="1097280"/>
            <a:ext cx="2651760" cy="73152"/>
          </a:xfrm>
          <a:prstGeom prst="rect">
            <a:avLst/>
          </a:prstGeom>
          <a:solidFill>
            <a:srgbClr val="E8785A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3716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566160" y="21031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 0-6 岁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儿童患病率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09728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097280"/>
            <a:ext cx="2651760" cy="73152"/>
          </a:xfrm>
          <a:prstGeom prst="rect">
            <a:avLst/>
          </a:prstGeom>
          <a:solidFill>
            <a:srgbClr val="7EC8C8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3716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E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92240" y="21031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 6-12 岁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儿童患病率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孤独症谱系障碍（ASD）是一种终身性神经发育疾病，临床表现高度异质，需要个性化的行为干预、早期症状监测和长期照护管理。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1B4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照顾者长期面临可及性差、缺乏个性化指导、信息碎片化等难以满足的日常照护需求。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4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问题：现有照护方案的局限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3474720"/>
          </a:xfrm>
          <a:prstGeom prst="rect">
            <a:avLst/>
          </a:prstGeom>
          <a:solidFill>
            <a:srgbClr val="E878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专业服务受限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康复人才严重短缺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服务费用高昂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地理覆盖不足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无法提供 7×24 支持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0" y="100584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0" y="1005840"/>
            <a:ext cx="73152" cy="3474720"/>
          </a:xfrm>
          <a:prstGeom prst="rect">
            <a:avLst/>
          </a:prstGeom>
          <a:solidFill>
            <a:srgbClr val="1B4D5C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4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现有信息渠道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94960" y="17373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信息碎片化、缺乏循证验证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94960" y="2194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无法适配个体化症状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94960" y="26517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 App 缺乏临床依据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94960" y="31089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普通 AI 聊天存在幻觉风险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当前没有任何方案能够同时兼顾临床可靠性、个性化、可及性和经济性。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4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solidFill>
            <a:srgbClr val="1B4D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E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核心用户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家庭照顾者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ASD 儿童的父母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参与日常照护的祖父母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主要居家照护人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 7×24 循证指导的人群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1148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73152" cy="3200400"/>
          </a:xfrm>
          <a:prstGeom prst="rect">
            <a:avLst/>
          </a:prstGeom>
          <a:solidFill>
            <a:srgbClr val="E8785A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次要用户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专业人士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937760" y="228600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特殊教育教师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康复治疗师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儿科护士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康复后的延伸支持工具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4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SpectraLink：我们的解决方案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0" y="1188720"/>
            <a:ext cx="3657600" cy="1280160"/>
          </a:xfrm>
          <a:prstGeom prst="rect">
            <a:avLst/>
          </a:prstGeom>
          <a:solidFill>
            <a:srgbClr val="1B4D5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神经符号 AI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E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知识图谱 + 大语言模型融合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知识图谱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循证临床知识库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75120" y="137160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7512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大语言模型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75120" y="1874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自然语言交互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68880" y="1828800"/>
            <a:ext cx="274320" cy="0"/>
          </a:xfrm>
          <a:prstGeom prst="line">
            <a:avLst/>
          </a:prstGeom>
          <a:noFill/>
          <a:ln w="25400">
            <a:solidFill>
              <a:srgbClr val="E8785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00800" y="1828800"/>
            <a:ext cx="274320" cy="0"/>
          </a:xfrm>
          <a:prstGeom prst="line">
            <a:avLst/>
          </a:prstGeom>
          <a:noFill/>
          <a:ln w="25400">
            <a:solidFill>
              <a:srgbClr val="E8785A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4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SpectraLink 提供：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" y="33375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个性化行为干预策略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0" y="33375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日常照护指导方案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7947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可追溯证据来源的循证回答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0" y="37947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照顾者心理健康支持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4251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长期记忆实现连续照护上下文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不提供：临床诊断、医疗治疗方案决策、危机紧急干预。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4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91440" cy="1828800"/>
          </a:xfrm>
          <a:prstGeom prst="rect">
            <a:avLst/>
          </a:prstGeom>
          <a:solidFill>
            <a:srgbClr val="1B4D5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4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照护助手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DeepSeek 的神经符号 AI 对话，知识图谱 grounding 消除幻觉，长期记忆实现个性化照护指导。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100584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0" y="1005840"/>
            <a:ext cx="91440" cy="1828800"/>
          </a:xfrm>
          <a:prstGeom prst="rect">
            <a:avLst/>
          </a:prstGeom>
          <a:solidFill>
            <a:srgbClr val="E8785A"/>
          </a:solidFill>
          <a:ln/>
        </p:spPr>
      </p:sp>
      <p:sp>
        <p:nvSpPr>
          <p:cNvPr id="9" name="Text 7"/>
          <p:cNvSpPr/>
          <p:nvPr/>
        </p:nvSpPr>
        <p:spPr>
          <a:xfrm>
            <a:off x="525780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8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社交社区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257800" y="16002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照顾者发布动态、分享经验，与同路人建立互助支持网络，缓解孤独感。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017520"/>
            <a:ext cx="91440" cy="1828800"/>
          </a:xfrm>
          <a:prstGeom prst="rect">
            <a:avLst/>
          </a:prstGeom>
          <a:solidFill>
            <a:srgbClr val="7EC8C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E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帮助中心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5800" y="36118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Neo4j 构建的 ASD 照护知识图谱，提供专业资源、医生推荐、机构联系信息。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0" y="301752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0" y="3017520"/>
            <a:ext cx="91440" cy="18288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7" name="Text 15"/>
          <p:cNvSpPr/>
          <p:nvPr/>
        </p:nvSpPr>
        <p:spPr>
          <a:xfrm>
            <a:off x="525780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A7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个人档案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57800" y="36118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记录照顾者与患儿档案、照护历史、成长档案，支持个性化推荐与设置。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4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286000" y="1097280"/>
            <a:ext cx="4572000" cy="502920"/>
          </a:xfrm>
          <a:prstGeom prst="rect">
            <a:avLst/>
          </a:prstGeom>
          <a:solidFill>
            <a:srgbClr val="7EC8C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前端层（React 19 + Tailwind + TypeScript）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0" y="1737360"/>
            <a:ext cx="4572000" cy="502920"/>
          </a:xfrm>
          <a:prstGeom prst="rect">
            <a:avLst/>
          </a:prstGeom>
          <a:solidFill>
            <a:srgbClr val="1B4D5C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网关（Express + MCP + DeepSeek API）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2377440"/>
            <a:ext cx="4572000" cy="502920"/>
          </a:xfrm>
          <a:prstGeom prst="rect">
            <a:avLst/>
          </a:prstGeom>
          <a:solidFill>
            <a:srgbClr val="E8785A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2468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知识图谱（Neo4j）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0" y="3017520"/>
            <a:ext cx="4572000" cy="50292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3108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数据层（Firebase Auth + Firestore）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1600200"/>
            <a:ext cx="0" cy="137160"/>
          </a:xfrm>
          <a:prstGeom prst="line">
            <a:avLst/>
          </a:prstGeom>
          <a:noFill/>
          <a:ln w="19050">
            <a:solidFill>
              <a:srgbClr val="71809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0" y="2240280"/>
            <a:ext cx="0" cy="137160"/>
          </a:xfrm>
          <a:prstGeom prst="line">
            <a:avLst/>
          </a:prstGeom>
          <a:noFill/>
          <a:ln w="19050">
            <a:solidFill>
              <a:srgbClr val="71809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0" y="2880360"/>
            <a:ext cx="0" cy="137160"/>
          </a:xfrm>
          <a:prstGeom prst="line">
            <a:avLst/>
          </a:prstGeom>
          <a:noFill/>
          <a:ln w="19050">
            <a:solidFill>
              <a:srgbClr val="718096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4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技术创新点：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协议保障 LLM API Key 安全，不暴露给前端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反思式记忆：自动对话摘要 + 照顾者状态追踪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知识图谱 grounding 有效消除 AI 幻觉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4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产品分析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4114800" cy="73152"/>
          </a:xfrm>
          <a:prstGeom prst="rect">
            <a:avLst/>
          </a:prstGeom>
          <a:solidFill>
            <a:srgbClr val="1B4D5C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优势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临床安全性与可解释性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高度个性化与适应性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7×24 移动可及性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兼顾患儿发展与照顾者心理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005840"/>
            <a:ext cx="4114800" cy="73152"/>
          </a:xfrm>
          <a:prstGeom prst="rect">
            <a:avLst/>
          </a:prstGeom>
          <a:solidFill>
            <a:srgbClr val="E8785A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劣势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知识图谱需专家持续维护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数字素养门槛影响采纳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网络依赖，离线功能有限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非诊断工具定位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17520"/>
            <a:ext cx="4114800" cy="73152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154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机会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ASD 患病率持续上升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数字健康政策利好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LLM/KG 技术日趋成熟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扩展至成人照护与可穿戴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0" y="301752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3017520"/>
            <a:ext cx="4114800" cy="73152"/>
          </a:xfrm>
          <a:prstGeom prst="rect">
            <a:avLst/>
          </a:prstGeom>
          <a:solidFill>
            <a:srgbClr val="8B5A2B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3154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威胁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心理健康 App 竞争激烈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医疗 AI 监管趋严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0060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公众对 AI 儿科干预信任不足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0060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数字鸿沟加剧不平等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4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商业模式：免费增值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548640"/>
          </a:xfrm>
          <a:prstGeom prst="rect">
            <a:avLst/>
          </a:prstGeom>
          <a:solidFill>
            <a:srgbClr val="7EC8C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免费版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E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循证照护指导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 AI 对话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社区交流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知识图谱检索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109728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097280"/>
            <a:ext cx="2651760" cy="548640"/>
          </a:xfrm>
          <a:prstGeom prst="rect">
            <a:avLst/>
          </a:prstGeom>
          <a:solidFill>
            <a:srgbClr val="1B4D5C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188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进阶版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4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团体咨询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6616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团体专家咨询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优先响应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扩展知识库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6616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照顾者工作坊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109728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1097280"/>
            <a:ext cx="2651760" cy="548640"/>
          </a:xfrm>
          <a:prstGeom prst="rect">
            <a:avLst/>
          </a:prstGeom>
          <a:solidFill>
            <a:srgbClr val="E8785A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188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高级版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936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对 1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9224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一对一专家支持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个性化照护方案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专属治疗师匹配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高级数据分析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收费收入用于知识图谱持续更新、临床审计及平台运维，实现社会影响与商业可持续的平衡。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4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实施路线图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822960" cy="822960"/>
          </a:xfrm>
          <a:prstGeom prst="ellipse">
            <a:avLst/>
          </a:prstGeom>
          <a:solidFill>
            <a:srgbClr val="7EC8C8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2344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E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第一阶段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试点验证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28346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 ASD 康复中心开展试点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康复后延伸照护支持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持续收集用户反馈迭代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1508760"/>
            <a:ext cx="274320" cy="0"/>
          </a:xfrm>
          <a:prstGeom prst="line">
            <a:avLst/>
          </a:prstGeom>
          <a:noFill/>
          <a:ln w="25400">
            <a:solidFill>
              <a:srgbClr val="71809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97680" y="1097280"/>
            <a:ext cx="822960" cy="822960"/>
          </a:xfrm>
          <a:prstGeom prst="ellipse">
            <a:avLst/>
          </a:prstGeom>
          <a:solidFill>
            <a:srgbClr val="1B4D5C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2344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83280" y="2103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第二阶段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24688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正式发布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28346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免费增值模式全面上线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多渠道市场推广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与专业机构建立合作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508760"/>
            <a:ext cx="274320" cy="0"/>
          </a:xfrm>
          <a:prstGeom prst="line">
            <a:avLst/>
          </a:prstGeom>
          <a:noFill/>
          <a:ln w="25400">
            <a:solidFill>
              <a:srgbClr val="71809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223760" y="1097280"/>
            <a:ext cx="822960" cy="822960"/>
          </a:xfrm>
          <a:prstGeom prst="ellipse">
            <a:avLst/>
          </a:prstGeom>
          <a:solidFill>
            <a:srgbClr val="E8785A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12344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09360" y="2103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第三阶段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4688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规模扩展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46520" y="28346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扩展至青少年/成人 ASD 照护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多语言服务支持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可穿戴设备集成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关键成功指标：照顾者压力缓解  |  干预依从性  |  患儿行为稳定性  |  成长档案驱动的用户留存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4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团队介绍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7280" y="1234440"/>
            <a:ext cx="731520" cy="731520"/>
          </a:xfrm>
          <a:prstGeom prst="ellipse">
            <a:avLst/>
          </a:prstGeom>
          <a:solidFill>
            <a:srgbClr val="7EC8C8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3258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贺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贺紫辰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北京大学临床医学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109728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234440"/>
            <a:ext cx="731520" cy="731520"/>
          </a:xfrm>
          <a:prstGeom prst="ellipse">
            <a:avLst/>
          </a:prstGeom>
          <a:solidFill>
            <a:srgbClr val="7EC8C8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3258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许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65176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许雅静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北京大学护理学院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09728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0" y="1234440"/>
            <a:ext cx="731520" cy="731520"/>
          </a:xfrm>
          <a:prstGeom prst="ellipse">
            <a:avLst/>
          </a:prstGeom>
          <a:solidFill>
            <a:srgbClr val="7EC8C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0" y="13258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朱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84632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朱丽烨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北京大学元培学院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40880" y="109728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680960" y="1234440"/>
            <a:ext cx="731520" cy="731520"/>
          </a:xfrm>
          <a:prstGeom prst="ellipse">
            <a:avLst/>
          </a:prstGeom>
          <a:solidFill>
            <a:srgbClr val="7EC8C8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0" y="13258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04088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代惠紫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0880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北京联合大学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97280" y="3063240"/>
            <a:ext cx="731520" cy="731520"/>
          </a:xfrm>
          <a:prstGeom prst="ellipse">
            <a:avLst/>
          </a:prstGeom>
          <a:solidFill>
            <a:srgbClr val="7EC8C8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31546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陈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57200" y="3840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陈柏彤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北京大学护理学院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651760" y="292608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91840" y="3063240"/>
            <a:ext cx="731520" cy="731520"/>
          </a:xfrm>
          <a:prstGeom prst="ellipse">
            <a:avLst/>
          </a:prstGeom>
          <a:solidFill>
            <a:srgbClr val="7EC8C8"/>
          </a:solidFill>
          <a:ln/>
        </p:spPr>
      </p:sp>
      <p:sp>
        <p:nvSpPr>
          <p:cNvPr id="30" name="Text 28"/>
          <p:cNvSpPr/>
          <p:nvPr/>
        </p:nvSpPr>
        <p:spPr>
          <a:xfrm>
            <a:off x="3291840" y="31546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郑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2651760" y="3840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郑辰颖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65176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北京大学护理学院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92608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0" y="3063240"/>
            <a:ext cx="731520" cy="731520"/>
          </a:xfrm>
          <a:prstGeom prst="ellipse">
            <a:avLst/>
          </a:prstGeom>
          <a:solidFill>
            <a:srgbClr val="7EC8C8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0" y="31546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刘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4846320" y="3840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刘卓凡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4632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北京大学护理学院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040880" y="292608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680960" y="3063240"/>
            <a:ext cx="731520" cy="731520"/>
          </a:xfrm>
          <a:prstGeom prst="ellipse">
            <a:avLst/>
          </a:prstGeom>
          <a:solidFill>
            <a:srgbClr val="7EC8C8"/>
          </a:solidFill>
          <a:ln/>
        </p:spPr>
      </p:sp>
      <p:sp>
        <p:nvSpPr>
          <p:cNvPr id="40" name="Text 38"/>
          <p:cNvSpPr/>
          <p:nvPr/>
        </p:nvSpPr>
        <p:spPr>
          <a:xfrm>
            <a:off x="7680960" y="31546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7040880" y="3840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任孜菡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04088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北京大学光华管理学院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1B4D5C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E8785A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645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E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SpectraLink：用 AI 赋能孤独症照顾者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3108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Grand Challenge 2026  |  SpectraLink 团队  |  MGC_2026_1395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SpectraLink 项目汇报</dc:title>
  <dc:subject>PptxGenJS Presentation</dc:subject>
  <dc:creator>SpectraLink 团队</dc:creator>
  <cp:lastModifiedBy>SpectraLink 团队</cp:lastModifiedBy>
  <cp:revision>1</cp:revision>
  <dcterms:created xsi:type="dcterms:W3CDTF">2026-06-02T12:37:37Z</dcterms:created>
  <dcterms:modified xsi:type="dcterms:W3CDTF">2026-06-02T12:37:37Z</dcterms:modified>
</cp:coreProperties>
</file>