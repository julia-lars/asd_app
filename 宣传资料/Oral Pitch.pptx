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307" autoAdjust="0"/>
  </p:normalViewPr>
  <p:slideViewPr>
    <p:cSldViewPr snapToGrid="0">
      <p:cViewPr>
        <p:scale>
          <a:sx n="75" d="100"/>
          <a:sy n="75" d="100"/>
        </p:scale>
        <p:origin x="948" y="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B4D1E7-1183-4D5A-8037-9A1A6BF45166}" type="datetimeFigureOut">
              <a:rPr lang="zh-CN" altLang="en-US" smtClean="0"/>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365D28-5C42-408C-A700-7AC1F4DA8B6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dirty="0"/>
              <a:t>3-Minute Presentation Script</a:t>
            </a:r>
            <a:endParaRPr lang="en-US" altLang="zh-CN" b="1" dirty="0"/>
          </a:p>
          <a:p>
            <a:r>
              <a:rPr lang="en-US" altLang="zh-CN" dirty="0"/>
              <a:t>Good morning everyone. We are Team </a:t>
            </a:r>
            <a:r>
              <a:rPr lang="en-US" altLang="zh-CN" b="1" dirty="0"/>
              <a:t>SpectraLink</a:t>
            </a:r>
            <a:r>
              <a:rPr lang="en-US" altLang="zh-CN" dirty="0"/>
              <a:t>, and today we are presenting </a:t>
            </a:r>
            <a:r>
              <a:rPr lang="en-US" altLang="zh-CN" b="1" dirty="0"/>
              <a:t>an AI-powered support app for autism caregivers</a:t>
            </a:r>
            <a:r>
              <a:rPr lang="en-US" altLang="zh-CN" dirty="0"/>
              <a:t>.</a:t>
            </a:r>
            <a:endParaRPr lang="en-US" altLang="zh-CN" dirty="0"/>
          </a:p>
          <a:p>
            <a:r>
              <a:rPr lang="en-US" altLang="zh-CN" dirty="0"/>
              <a:t>Caregivers of children with autism spectrum disorder often face complex and highly individualized daily challenges. These challenges may involve behavior management, communication difficulties, emotional regulation, school adaptation, and family stress. However, professional services are often limited by high costs, long waiting lists, geographic barriers, and shortages of trained specialists. As a result, many caregivers have to rely on fragmented information from books, social media, or general AI tools, which may not always be evidence-based, practical, or safe.</a:t>
            </a:r>
            <a:endParaRPr lang="en-US" altLang="zh-CN" dirty="0"/>
          </a:p>
          <a:p>
            <a:r>
              <a:rPr lang="en-US" altLang="zh-CN" dirty="0"/>
              <a:t>To better understand real-world needs, we conducted </a:t>
            </a:r>
            <a:r>
              <a:rPr lang="en-US" altLang="zh-CN" b="1" dirty="0"/>
              <a:t>36 preliminary interviews</a:t>
            </a:r>
            <a:r>
              <a:rPr lang="en-US" altLang="zh-CN" dirty="0"/>
              <a:t> with caregivers, clinicians, and education-related stakeholders. These interviews showed that caregivers need guidance that is not only trustworthy, but also practical, personalized, and easy to apply in daily family life. Their feedback directly shaped our app design, including content priorities, user workflow, and support features.</a:t>
            </a:r>
            <a:endParaRPr lang="en-US" altLang="zh-CN" dirty="0"/>
          </a:p>
          <a:p>
            <a:r>
              <a:rPr lang="en-US" altLang="zh-CN" dirty="0"/>
              <a:t>This is where </a:t>
            </a:r>
            <a:r>
              <a:rPr lang="en-US" altLang="zh-CN" b="1" dirty="0"/>
              <a:t>SpectraLink</a:t>
            </a:r>
            <a:r>
              <a:rPr lang="en-US" altLang="zh-CN" dirty="0"/>
              <a:t> comes in. Our mission is to turn evidence-based autism knowledge into </a:t>
            </a:r>
            <a:r>
              <a:rPr lang="en-US" altLang="zh-CN" b="1" dirty="0"/>
              <a:t>personalized, practical, and compassionate caregiving support</a:t>
            </a:r>
            <a:r>
              <a:rPr lang="en-US" altLang="zh-CN" dirty="0"/>
              <a:t>.</a:t>
            </a:r>
            <a:endParaRPr lang="en-US" altLang="zh-CN" dirty="0"/>
          </a:p>
          <a:p>
            <a:r>
              <a:rPr lang="en-US" altLang="zh-CN" dirty="0"/>
              <a:t>Technically, SpectraLink uses a </a:t>
            </a:r>
            <a:r>
              <a:rPr lang="en-US" altLang="zh-CN" b="1" dirty="0"/>
              <a:t>neuro-symbolic AI architecture</a:t>
            </a:r>
            <a:r>
              <a:rPr lang="en-US" altLang="zh-CN" dirty="0"/>
              <a:t>, combining a </a:t>
            </a:r>
            <a:r>
              <a:rPr lang="en-US" altLang="zh-CN" b="1" dirty="0"/>
              <a:t>knowledge graph, large language model, and retrieval-augmented generation</a:t>
            </a:r>
            <a:r>
              <a:rPr lang="en-US" altLang="zh-CN" dirty="0"/>
              <a:t>. The knowledge graph is built from clinical guidelines, systematic reviews, meta-analyses, original studies, and caregiver experience literature. It currently includes </a:t>
            </a:r>
            <a:r>
              <a:rPr lang="en-US" altLang="zh-CN" b="1" dirty="0"/>
              <a:t>43,441 structured triples</a:t>
            </a:r>
            <a:r>
              <a:rPr lang="en-US" altLang="zh-CN" dirty="0"/>
              <a:t>, organizing knowledge into relationships such as problems, triggers, interventions, steps, notes, and resources.</a:t>
            </a:r>
            <a:endParaRPr lang="en-US" altLang="zh-CN" dirty="0"/>
          </a:p>
          <a:p>
            <a:r>
              <a:rPr lang="en-US" altLang="zh-CN" dirty="0"/>
              <a:t>When a caregiver asks a question, the system first recognizes the user’s intent and context. It then retrieves relevant knowledge from the graph, embeds it into a structured context, and generates a constrained AI response. This workflow improves explainability, reduces hallucination risk, and supports more trustworthy advice.</a:t>
            </a:r>
            <a:endParaRPr lang="en-US" altLang="zh-CN" dirty="0"/>
          </a:p>
          <a:p>
            <a:r>
              <a:rPr lang="en-US" altLang="zh-CN" dirty="0"/>
              <a:t>SpectraLink has four core app functions.</a:t>
            </a:r>
            <a:endParaRPr lang="en-US" altLang="zh-CN" dirty="0"/>
          </a:p>
          <a:p>
            <a:r>
              <a:rPr lang="en-US" altLang="zh-CN" dirty="0"/>
              <a:t>First, it provides </a:t>
            </a:r>
            <a:r>
              <a:rPr lang="en-US" altLang="zh-CN" b="1" dirty="0"/>
              <a:t>personalized caregiving guidance</a:t>
            </a:r>
            <a:r>
              <a:rPr lang="en-US" altLang="zh-CN" dirty="0"/>
              <a:t>. Caregivers can describe real-life problems in natural language, and the app generates step-by-step support strategies.</a:t>
            </a:r>
            <a:endParaRPr lang="en-US" altLang="zh-CN" dirty="0"/>
          </a:p>
          <a:p>
            <a:r>
              <a:rPr lang="en-US" altLang="zh-CN" dirty="0"/>
              <a:t>Second, it offers an </a:t>
            </a:r>
            <a:r>
              <a:rPr lang="en-US" altLang="zh-CN" b="1" dirty="0"/>
              <a:t>evidence-based knowledge graph</a:t>
            </a:r>
            <a:r>
              <a:rPr lang="en-US" altLang="zh-CN" dirty="0"/>
              <a:t>, helping caregivers understand not only what to do, but also why the recommendation is reliable.</a:t>
            </a:r>
            <a:endParaRPr lang="en-US" altLang="zh-CN" dirty="0"/>
          </a:p>
          <a:p>
            <a:r>
              <a:rPr lang="en-US" altLang="zh-CN" dirty="0"/>
              <a:t>Third, it provides </a:t>
            </a:r>
            <a:r>
              <a:rPr lang="en-US" altLang="zh-CN" b="1" dirty="0"/>
              <a:t>caregiver mental health support</a:t>
            </a:r>
            <a:r>
              <a:rPr lang="en-US" altLang="zh-CN" dirty="0"/>
              <a:t>, including emotional recognition, supportive feedback, breathing exercises, mindfulness, and relaxation resources.</a:t>
            </a:r>
            <a:endParaRPr lang="en-US" altLang="zh-CN" dirty="0"/>
          </a:p>
          <a:p>
            <a:r>
              <a:rPr lang="en-US" altLang="zh-CN" dirty="0"/>
              <a:t>Fourth, it supports </a:t>
            </a:r>
            <a:r>
              <a:rPr lang="en-US" altLang="zh-CN" b="1" dirty="0"/>
              <a:t>community and resource navigation</a:t>
            </a:r>
            <a:r>
              <a:rPr lang="en-US" altLang="zh-CN" dirty="0"/>
              <a:t>, connecting families with autism organizations, services, policy resources, and future caregiver communities.</a:t>
            </a:r>
            <a:endParaRPr lang="en-US" altLang="zh-CN" dirty="0"/>
          </a:p>
          <a:p>
            <a:r>
              <a:rPr lang="en-US" altLang="zh-CN" dirty="0"/>
              <a:t>For commercialization, we are designing a sustainable and scalable model. Basic access will provide free Q&amp;A and caregiver support tools. Premium subscription will offer advanced care plans, tracking, and curated content. We are also actively communicating with two types of potential partners: </a:t>
            </a:r>
            <a:r>
              <a:rPr lang="en-US" altLang="zh-CN" b="1" dirty="0"/>
              <a:t>a care and rehabilitation institution</a:t>
            </a:r>
            <a:r>
              <a:rPr lang="en-US" altLang="zh-CN" dirty="0"/>
              <a:t> and </a:t>
            </a:r>
            <a:r>
              <a:rPr lang="en-US" altLang="zh-CN" b="1" dirty="0"/>
              <a:t>a special education school</a:t>
            </a:r>
            <a:r>
              <a:rPr lang="en-US" altLang="zh-CN" dirty="0"/>
              <a:t>. These early partnership discussions help us validate real-world application scenarios and explore future B2B pathways in care, education, and family support.</a:t>
            </a:r>
            <a:endParaRPr lang="en-US" altLang="zh-CN" dirty="0"/>
          </a:p>
          <a:p>
            <a:r>
              <a:rPr lang="en-US" altLang="zh-CN" dirty="0"/>
              <a:t>Importantly, SpectraLink is positioned as a support tool, not a diagnostic or emergency intervention tool. When evidence is insufficient or risk-related content appears, the system will recommend referral to professionals.</a:t>
            </a:r>
            <a:endParaRPr lang="en-US" altLang="zh-CN" dirty="0"/>
          </a:p>
          <a:p>
            <a:r>
              <a:rPr lang="en-US" altLang="zh-CN" dirty="0"/>
              <a:t>In summary, SpectraLink bridges professional autism knowledge and daily family care. It is caregiver-centered, evidence-based, and commercially scalable. By transforming fragmented information into structured support, SpectraLink aims to empower caregivers, promote informed decisions, and create a scalable digital health solution for autism families.</a:t>
            </a:r>
            <a:endParaRPr lang="en-US" altLang="zh-CN" dirty="0"/>
          </a:p>
          <a:p>
            <a:r>
              <a:rPr lang="en-US" altLang="zh-CN" dirty="0"/>
              <a:t>Thank you.</a:t>
            </a:r>
            <a:endParaRPr lang="en-US" altLang="zh-CN" dirty="0"/>
          </a:p>
          <a:p>
            <a:endParaRPr lang="zh-CN" altLang="en-US" dirty="0"/>
          </a:p>
        </p:txBody>
      </p:sp>
      <p:sp>
        <p:nvSpPr>
          <p:cNvPr id="4" name="Slide Number Placeholder 3"/>
          <p:cNvSpPr>
            <a:spLocks noGrp="1"/>
          </p:cNvSpPr>
          <p:nvPr>
            <p:ph type="sldNum" sz="quarter" idx="5"/>
          </p:nvPr>
        </p:nvSpPr>
        <p:spPr/>
        <p:txBody>
          <a:bodyPr/>
          <a:lstStyle/>
          <a:p>
            <a:fld id="{27365D28-5C42-408C-A700-7AC1F4DA8B6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p:cNvSpPr>
            <a:spLocks noGrp="1"/>
          </p:cNvSpPr>
          <p:nvPr>
            <p:ph type="dt" sz="half" idx="10"/>
          </p:nvPr>
        </p:nvSpPr>
        <p:spPr/>
        <p:txBody>
          <a:bodyPr/>
          <a:lstStyle/>
          <a:p>
            <a:fld id="{9213B7F8-AFC7-4D03-AF6A-F21EAD0A3D7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23A1EA5-2FC7-434A-802E-164A9B1323E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9213B7F8-AFC7-4D03-AF6A-F21EAD0A3D7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23A1EA5-2FC7-434A-802E-164A9B1323E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endParaRPr lang="en-US" altLang="zh-CN"/>
          </a:p>
        </p:txBody>
      </p:sp>
      <p:sp>
        <p:nvSpPr>
          <p:cNvPr id="4" name="Date Placeholder 3"/>
          <p:cNvSpPr>
            <a:spLocks noGrp="1"/>
          </p:cNvSpPr>
          <p:nvPr>
            <p:ph type="dt" sz="half" idx="10"/>
          </p:nvPr>
        </p:nvSpPr>
        <p:spPr/>
        <p:txBody>
          <a:bodyPr/>
          <a:lstStyle/>
          <a:p>
            <a:fld id="{9213B7F8-AFC7-4D03-AF6A-F21EAD0A3D7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23A1EA5-2FC7-434A-802E-164A9B1323E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Date Placeholder 4"/>
          <p:cNvSpPr>
            <a:spLocks noGrp="1"/>
          </p:cNvSpPr>
          <p:nvPr>
            <p:ph type="dt" sz="half" idx="10"/>
          </p:nvPr>
        </p:nvSpPr>
        <p:spPr/>
        <p:txBody>
          <a:bodyPr/>
          <a:lstStyle/>
          <a:p>
            <a:fld id="{9213B7F8-AFC7-4D03-AF6A-F21EAD0A3D7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23A1EA5-2FC7-434A-802E-164A9B1323E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839788" y="2505075"/>
            <a:ext cx="5157787" cy="368458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Date Placeholder 6"/>
          <p:cNvSpPr>
            <a:spLocks noGrp="1"/>
          </p:cNvSpPr>
          <p:nvPr>
            <p:ph type="dt" sz="half" idx="10"/>
          </p:nvPr>
        </p:nvSpPr>
        <p:spPr/>
        <p:txBody>
          <a:bodyPr/>
          <a:lstStyle/>
          <a:p>
            <a:fld id="{9213B7F8-AFC7-4D03-AF6A-F21EAD0A3D79}"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423A1EA5-2FC7-434A-802E-164A9B1323E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Date Placeholder 2"/>
          <p:cNvSpPr>
            <a:spLocks noGrp="1"/>
          </p:cNvSpPr>
          <p:nvPr>
            <p:ph type="dt" sz="half" idx="10"/>
          </p:nvPr>
        </p:nvSpPr>
        <p:spPr/>
        <p:txBody>
          <a:bodyPr/>
          <a:lstStyle/>
          <a:p>
            <a:fld id="{9213B7F8-AFC7-4D03-AF6A-F21EAD0A3D79}"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423A1EA5-2FC7-434A-802E-164A9B1323E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3B7F8-AFC7-4D03-AF6A-F21EAD0A3D79}"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423A1EA5-2FC7-434A-802E-164A9B1323E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9213B7F8-AFC7-4D03-AF6A-F21EAD0A3D7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23A1EA5-2FC7-434A-802E-164A9B1323E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9213B7F8-AFC7-4D03-AF6A-F21EAD0A3D7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23A1EA5-2FC7-434A-802E-164A9B1323E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9213B7F8-AFC7-4D03-AF6A-F21EAD0A3D7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23A1EA5-2FC7-434A-802E-164A9B1323E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9213B7F8-AFC7-4D03-AF6A-F21EAD0A3D7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23A1EA5-2FC7-434A-802E-164A9B1323E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13B7F8-AFC7-4D03-AF6A-F21EAD0A3D79}"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3A1EA5-2FC7-434A-802E-164A9B1323E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WPS 文字</Application>
  <PresentationFormat>Widescreen</PresentationFormat>
  <Paragraphs>0</Paragraphs>
  <Slides>1</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vt:i4>
      </vt:variant>
    </vt:vector>
  </HeadingPairs>
  <TitlesOfParts>
    <vt:vector size="15" baseType="lpstr">
      <vt:lpstr>Arial</vt:lpstr>
      <vt:lpstr>宋体</vt:lpstr>
      <vt:lpstr>Wingdings</vt:lpstr>
      <vt:lpstr>微软雅黑</vt:lpstr>
      <vt:lpstr>汉仪旗黑</vt:lpstr>
      <vt:lpstr>宋体</vt:lpstr>
      <vt:lpstr>Arial Unicode MS</vt:lpstr>
      <vt:lpstr>等线 Light</vt:lpstr>
      <vt:lpstr>汉仪中等线KW</vt:lpstr>
      <vt:lpstr>等线</vt:lpstr>
      <vt:lpstr>Calibri</vt:lpstr>
      <vt:lpstr>Helvetica Neue</vt:lpstr>
      <vt:lpstr>汉仪书宋二KW</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Yajing XU</dc:creator>
  <cp:lastModifiedBy>朱丽烨</cp:lastModifiedBy>
  <cp:revision>4</cp:revision>
  <dcterms:created xsi:type="dcterms:W3CDTF">2026-06-06T14:13:39Z</dcterms:created>
  <dcterms:modified xsi:type="dcterms:W3CDTF">2026-06-06T14:13:39Z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059C4CE956181587122B246AD8C16EC7_43</vt:lpwstr>
  </property>
  <property fmtid="{D5CDD505-2E9C-101B-9397-08002B2CF9AE}" pid="3" name="KSOProductBuildVer">
    <vt:lpwstr>2052-12.1.25205.25205</vt:lpwstr>
  </property>
</Properties>
</file>